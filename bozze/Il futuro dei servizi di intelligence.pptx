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Metodologia e fonti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Analisi della letteratura grigia e accademica in 3 fasi sequenziali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1316736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60 fonti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9928" y="1298448"/>
            <a:ext cx="2624328" cy="384048"/>
          </a:xfrm>
          <a:prstGeom prst="roundRect">
            <a:avLst>
              <a:gd name="adj" fmla="val 10000"/>
            </a:avLst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serie geografiche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2980944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criteri di selezione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801368"/>
            <a:ext cx="2505456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 sfide tematiche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Fase 1  —  Knowledge base: 60 schede con sintesi in 10 punti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Fase 2  —  Analisi trasversale: ogni sfida da ≥ 3 fonti indipendenti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Fase 3  —  Redazione: citazioni (Org., Anno) · prospettive divergenti esplicitate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Fonti cinesi e russe ufficiali = fonti primarie su dottrina, non analisi indipendente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60 fonti · 5 serie geografiche · decennio 2025–2035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320040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45643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19" name="Oval 18"/>
          <p:cNvSpPr/>
          <p:nvPr/>
        </p:nvSpPr>
        <p:spPr>
          <a:xfrm>
            <a:off x="7187184" y="2350008"/>
            <a:ext cx="694944" cy="69494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016" y="2542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USA/Int.</a:t>
            </a:r>
          </a:p>
        </p:txBody>
      </p:sp>
      <p:sp>
        <p:nvSpPr>
          <p:cNvPr id="21" name="Oval 20"/>
          <p:cNvSpPr/>
          <p:nvPr/>
        </p:nvSpPr>
        <p:spPr>
          <a:xfrm>
            <a:off x="9491472" y="2542032"/>
            <a:ext cx="694944" cy="694944"/>
          </a:xfrm>
          <a:prstGeom prst="ellipse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7340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Europa</a:t>
            </a:r>
          </a:p>
        </p:txBody>
      </p:sp>
      <p:sp>
        <p:nvSpPr>
          <p:cNvPr id="23" name="Oval 22"/>
          <p:cNvSpPr/>
          <p:nvPr/>
        </p:nvSpPr>
        <p:spPr>
          <a:xfrm>
            <a:off x="9747503" y="3694176"/>
            <a:ext cx="694944" cy="69494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6336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Asia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7" y="4462272"/>
            <a:ext cx="694944" cy="694944"/>
          </a:xfrm>
          <a:prstGeom prst="ellipse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46542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Cina</a:t>
            </a:r>
          </a:p>
        </p:txBody>
      </p:sp>
      <p:sp>
        <p:nvSpPr>
          <p:cNvPr id="27" name="Oval 26"/>
          <p:cNvSpPr/>
          <p:nvPr/>
        </p:nvSpPr>
        <p:spPr>
          <a:xfrm>
            <a:off x="7059168" y="3950208"/>
            <a:ext cx="694944" cy="694944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142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Russia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 e intelligence: dottrina integrata o frammentazione?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L'AI ridefinisce ogni fase del ciclo, ma l'assenza di strategia unificata produce silos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Super-OODA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1298448"/>
            <a:ext cx="3931920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Fusione militare-civile (Cina)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2624328" cy="384048"/>
          </a:xfrm>
          <a:prstGeom prst="roundRect">
            <a:avLst>
              <a:gd name="adj" fmla="val 10000"/>
            </a:avLst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sovrana (Russia)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801368"/>
            <a:ext cx="2386584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Frammentazione 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USA: vantaggio strutturale con programmi federali anticipatori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Cina: opacità — integrazione sistematica non dichiarata (MCF)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Russia: gap misurabile — Glaz/Groza vs. NLP sperimentale (Ucraina)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UE/Asia: investimenti senza dottrina unificante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NSCAI 2021 · CSIS/Bondar 2026 · T-invariant 2025 · PLA CMC 2020–25</a:t>
            </a:r>
          </a:p>
        </p:txBody>
      </p:sp>
      <p:sp>
        <p:nvSpPr>
          <p:cNvPr id="17" name="Oval 16"/>
          <p:cNvSpPr/>
          <p:nvPr/>
        </p:nvSpPr>
        <p:spPr>
          <a:xfrm>
            <a:off x="6995159" y="2057400"/>
            <a:ext cx="1005840" cy="10058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7999" y="2395727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Osserva</a:t>
            </a:r>
          </a:p>
        </p:txBody>
      </p:sp>
      <p:sp>
        <p:nvSpPr>
          <p:cNvPr id="19" name="Oval 18"/>
          <p:cNvSpPr/>
          <p:nvPr/>
        </p:nvSpPr>
        <p:spPr>
          <a:xfrm>
            <a:off x="8823959" y="2057400"/>
            <a:ext cx="1005840" cy="1005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395727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Orienta</a:t>
            </a:r>
          </a:p>
        </p:txBody>
      </p:sp>
      <p:sp>
        <p:nvSpPr>
          <p:cNvPr id="21" name="Oval 20"/>
          <p:cNvSpPr/>
          <p:nvPr/>
        </p:nvSpPr>
        <p:spPr>
          <a:xfrm>
            <a:off x="8823959" y="3886200"/>
            <a:ext cx="1005840" cy="1005840"/>
          </a:xfrm>
          <a:prstGeom prst="ellipse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4224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23" name="Oval 22"/>
          <p:cNvSpPr/>
          <p:nvPr/>
        </p:nvSpPr>
        <p:spPr>
          <a:xfrm>
            <a:off x="6995159" y="3886200"/>
            <a:ext cx="1005840" cy="1005840"/>
          </a:xfrm>
          <a:prstGeom prst="ellipse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7999" y="4224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Agisce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2523744"/>
            <a:ext cx="822960" cy="9144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3063239"/>
            <a:ext cx="91440" cy="82296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4297679"/>
            <a:ext cx="822960" cy="9144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3063239"/>
            <a:ext cx="91440" cy="82296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261"/>
                </a:solidFill>
              </a:rPr>
              <a:t>AI: ore → secondi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Tradecraft analitico: sopravvivere all'automazione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Il ciclo decisionale scende da ore a secondi — il tradecraft va reingegnerizzato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2386584" cy="384048"/>
          </a:xfrm>
          <a:prstGeom prst="roundRect">
            <a:avLst>
              <a:gd name="adj" fmla="val 10000"/>
            </a:avLst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Human-on-the-loop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9776" y="1298448"/>
            <a:ext cx="2505456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Validatore critico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2743200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Learn-while-fighting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36392" y="1801368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Super-OODA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I format tradizionali di reporting sono obsoleti per architetture C2 algoritmiche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L'analista del futuro: valida l'output AI, non lo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Russia: modello pragmatico — combattimento reale come addestramento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Simulazioni ≠ dati di conflitto: i servizi addestrano su dataset strutturalmente diversi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RSIS/Raska 2025 · Belfer Center 2024 · CSIS/Bondar 2026</a:t>
            </a:r>
          </a:p>
        </p:txBody>
      </p:sp>
      <p:sp>
        <p:nvSpPr>
          <p:cNvPr id="17" name="Oval 16"/>
          <p:cNvSpPr/>
          <p:nvPr/>
        </p:nvSpPr>
        <p:spPr>
          <a:xfrm>
            <a:off x="6995159" y="2057400"/>
            <a:ext cx="1005840" cy="10058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7999" y="2395727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Osserva</a:t>
            </a:r>
          </a:p>
        </p:txBody>
      </p:sp>
      <p:sp>
        <p:nvSpPr>
          <p:cNvPr id="19" name="Oval 18"/>
          <p:cNvSpPr/>
          <p:nvPr/>
        </p:nvSpPr>
        <p:spPr>
          <a:xfrm>
            <a:off x="8823959" y="2057400"/>
            <a:ext cx="1005840" cy="10058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395727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Orienta</a:t>
            </a:r>
          </a:p>
        </p:txBody>
      </p:sp>
      <p:sp>
        <p:nvSpPr>
          <p:cNvPr id="21" name="Oval 20"/>
          <p:cNvSpPr/>
          <p:nvPr/>
        </p:nvSpPr>
        <p:spPr>
          <a:xfrm>
            <a:off x="8823959" y="3886200"/>
            <a:ext cx="1005840" cy="1005840"/>
          </a:xfrm>
          <a:prstGeom prst="ellipse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4224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23" name="Oval 22"/>
          <p:cNvSpPr/>
          <p:nvPr/>
        </p:nvSpPr>
        <p:spPr>
          <a:xfrm>
            <a:off x="6995159" y="3886200"/>
            <a:ext cx="1005840" cy="1005840"/>
          </a:xfrm>
          <a:prstGeom prst="ellipse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7999" y="4224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Agisce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2523744"/>
            <a:ext cx="822960" cy="9144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3063239"/>
            <a:ext cx="91440" cy="82296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4297679"/>
            <a:ext cx="822960" cy="9144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3063239"/>
            <a:ext cx="91440" cy="82296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261"/>
                </a:solidFill>
              </a:rPr>
              <a:t>AI: ore → secondi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OSINT: disciplina strategica vs. arma di saturazione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Chi estrae valore dall'OSINT e chi lo rende inutilizzabile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2862072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Analisi bibliometrica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1298448"/>
            <a:ext cx="1792224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DoppelGänger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FIMI 29% Russia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1801368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Procurement PLA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ASPI: brevetti + procurement rivelano capacità avversariali come fonti classificate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CSET: documenti PLA → priorità AI militare con dettaglio operativo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Russia: saturazione — 29% FIMI 2025, obiettivo è confondere non convincere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Europol: crimine organizzato inquina lo spazio OSINT con AI generativa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ASPI 2025 · CSET 2026 · RUSI/Wallner et al. 2025 · Europol 2025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2377439"/>
            <a:ext cx="2194560" cy="2194560"/>
          </a:xfrm>
          <a:prstGeom prst="ellipse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2377439"/>
            <a:ext cx="2194560" cy="2194560"/>
          </a:xfrm>
          <a:prstGeom prst="ellipse">
            <a:avLst/>
          </a:prstGeom>
          <a:solidFill>
            <a:srgbClr val="162D44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66760" y="2880360"/>
            <a:ext cx="1188720" cy="11887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05088" y="3218687"/>
            <a:ext cx="512064" cy="512064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OSINT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4754880"/>
            <a:ext cx="274320" cy="27432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4754880"/>
            <a:ext cx="274320" cy="411479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4754880"/>
            <a:ext cx="274320" cy="54864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4754880"/>
            <a:ext cx="274320" cy="6858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4754880"/>
            <a:ext cx="274320" cy="822959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Cybersicurezza: la distinzione Stato–crimine è obsoleta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Cyberattacchi progettati per essere indistinguibili nella motivazione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3337560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Continuum cyber-cognitivo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30752" y="1298448"/>
            <a:ext cx="1792224" cy="384048"/>
          </a:xfrm>
          <a:prstGeom prst="roundRect">
            <a:avLst>
              <a:gd name="adj" fmla="val 10000"/>
            </a:avLst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FSB + Wagner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7568" y="1298448"/>
            <a:ext cx="841248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RaaS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801368"/>
            <a:ext cx="2386584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security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Europol: campagne ibride — motivazione finanziaria e geopolitica indistinguibili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Russia: FSB, GRU, Wagner, hacktivisti — stessa infrastruttura, attributo ambiguo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Cina: CAC + Cybersecurity Law → condivisione forzata dati privati → MSS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RaaS democratizza l'offensiva: moltiplicazione attori difficile da monitorare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Europol 2025 · RUSI 2025 · CAC/NPCSC 2025 · CICIR/MSS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194560"/>
            <a:ext cx="1280160" cy="1828800"/>
          </a:xfrm>
          <a:prstGeom prst="roundRect">
            <a:avLst>
              <a:gd name="adj" fmla="val 10000"/>
            </a:avLst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194560"/>
            <a:ext cx="1280160" cy="1828800"/>
          </a:xfrm>
          <a:prstGeom prst="roundRect">
            <a:avLst/>
          </a:prstGeom>
          <a:noFill/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7432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0B4D8"/>
                </a:solidFill>
              </a:rPr>
              <a:t>🛡</a:t>
            </a:r>
          </a:p>
        </p:txBody>
      </p:sp>
      <p:sp>
        <p:nvSpPr>
          <p:cNvPr id="20" name="Oval 19"/>
          <p:cNvSpPr/>
          <p:nvPr/>
        </p:nvSpPr>
        <p:spPr>
          <a:xfrm>
            <a:off x="7818119" y="4251960"/>
            <a:ext cx="1005840" cy="10058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1080" y="4251960"/>
            <a:ext cx="1005840" cy="1005840"/>
          </a:xfrm>
          <a:prstGeom prst="ellipse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Stato ↔ Crimine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Tecnologie critiche: la Cina guida, la Russia aggira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66 su 74 tecnologie critiche a guida cinese — 2030 è la scadenza strategica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2267712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66/74 tecnologie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0904" y="1298448"/>
            <a:ext cx="3099816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MCF militarizzazione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2862072" cy="384048"/>
          </a:xfrm>
          <a:prstGeom prst="roundRect">
            <a:avLst>
              <a:gd name="adj" fmla="val 10000"/>
            </a:avLst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Export control bypass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5264" y="1801368"/>
            <a:ext cx="2029968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DeepSeek → PLA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ASPI: Cina dominante in sensori avanzati, quantum, biotecnologie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ChatBIT: Llama/DeepSeek militarizzati via fine-tuning su dati classificati PLA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Russia: sanzioni = – 2/3 anni; cooperazione Cina aggira l'export control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Export control richiede il consenso di tutti i fornitori alternativi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ASPI 2025 · MERICS 2025 · PLA AMS/ChatBIT 2024 · CNAS/Bendett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E"/>
                </a:solidFill>
              </a:rPr>
              <a:t>Tecnologie critiche globali (74)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011680"/>
            <a:ext cx="3262183" cy="502920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3411" y="20574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560320"/>
            <a:ext cx="32621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3B3B"/>
                </a:solidFill>
              </a:rPr>
              <a:t>Cina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Maturità operativa entro il 2030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657600"/>
            <a:ext cx="421118" cy="352044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5DE5"/>
                </a:solidFill>
              </a:rPr>
              <a:t>Russia: – 2/3 anni (sanzioni)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Struttura organizzativa: dalla gerarchia alla 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Le architetture verticali non reggono la velocità delle minacce ibride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2267712" cy="384048"/>
          </a:xfrm>
          <a:prstGeom prst="roundRect">
            <a:avLst>
              <a:gd name="adj" fmla="val 10000"/>
            </a:avLst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Rete distribuita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0904" y="1298448"/>
            <a:ext cx="2386584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Silos FSB/GRU/SVR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2980944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Hybrid Centre Helsinki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801368"/>
            <a:ext cx="2624328" cy="384048"/>
          </a:xfrm>
          <a:prstGeom prst="roundRect">
            <a:avLst>
              <a:gd name="adj" fmla="val 10000"/>
            </a:avLst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QG AI Cremlino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ECFR: centri di eccellenza per area geografica, collegati da protocolli di condivisione rapida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SWP: toolbox senza strategia = investimenti senza dottrina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Russia: innovazione bottom-up da Ucraina → istituzione tardiva del QG AI (2025)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Anche i sistemi autoritari soffrono di silos istituzionali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ECFR 2025 · SWP 2022 · Kremlin/Putin 2025–26 · CSIS/Bondar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3240" y="2843784"/>
            <a:ext cx="1746958" cy="7315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3400" y="2843784"/>
            <a:ext cx="1746958" cy="7315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13213" y="3483864"/>
            <a:ext cx="2632773" cy="7315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27613" y="3483864"/>
            <a:ext cx="2632773" cy="73152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1901952"/>
            <a:ext cx="768096" cy="7680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1305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Hub</a:t>
            </a:r>
          </a:p>
        </p:txBody>
      </p:sp>
      <p:sp>
        <p:nvSpPr>
          <p:cNvPr id="23" name="Oval 22"/>
          <p:cNvSpPr/>
          <p:nvPr/>
        </p:nvSpPr>
        <p:spPr>
          <a:xfrm>
            <a:off x="7022592" y="3090672"/>
            <a:ext cx="768096" cy="768096"/>
          </a:xfrm>
          <a:prstGeom prst="ellipse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3192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Cyber</a:t>
            </a:r>
          </a:p>
        </p:txBody>
      </p:sp>
      <p:sp>
        <p:nvSpPr>
          <p:cNvPr id="25" name="Oval 24"/>
          <p:cNvSpPr/>
          <p:nvPr/>
        </p:nvSpPr>
        <p:spPr>
          <a:xfrm>
            <a:off x="9582912" y="3090672"/>
            <a:ext cx="768096" cy="768096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33192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Geo</a:t>
            </a:r>
          </a:p>
        </p:txBody>
      </p:sp>
      <p:sp>
        <p:nvSpPr>
          <p:cNvPr id="27" name="Oval 26"/>
          <p:cNvSpPr/>
          <p:nvPr/>
        </p:nvSpPr>
        <p:spPr>
          <a:xfrm>
            <a:off x="7388352" y="4370832"/>
            <a:ext cx="768096" cy="768096"/>
          </a:xfrm>
          <a:prstGeom prst="ellipse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45994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OSINT</a:t>
            </a:r>
          </a:p>
        </p:txBody>
      </p:sp>
      <p:sp>
        <p:nvSpPr>
          <p:cNvPr id="29" name="Oval 28"/>
          <p:cNvSpPr/>
          <p:nvPr/>
        </p:nvSpPr>
        <p:spPr>
          <a:xfrm>
            <a:off x="9217152" y="4370832"/>
            <a:ext cx="768096" cy="768096"/>
          </a:xfrm>
          <a:prstGeom prst="ellipse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45994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Forza lavoro: la doppia competenza è il profilo più raro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Geopolitica + data science: i servizi non possono vincere sul prezzo con il privato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2386584" cy="384048"/>
          </a:xfrm>
          <a:prstGeom prst="roundRect">
            <a:avLst>
              <a:gd name="adj" fmla="val 10000"/>
            </a:avLst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Doppia competenza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9776" y="1298448"/>
            <a:ext cx="2386584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J-AISI (Giappone)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3337560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15.500 specialisti Russia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0752" y="1801368"/>
            <a:ext cx="1673352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Brain drain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Brain drain verso Big Tech: salari, cultura, visibilità non replicabili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Giappone: J-AISI — 30 specialisti full-time, modello small-but-focused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Cina: fine-tuning su open source → meno dipendenza da élite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Russia: target 15.500 in 5 anni; compensazione con reclutamento forzato da Yandex/Sberbank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NSCAI 2021 · J-AISI 2025 · ORF 2026 · Russia/National AI Strategy 2024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487168"/>
            <a:ext cx="822960" cy="1005840"/>
          </a:xfrm>
          <a:prstGeom prst="roundRect">
            <a:avLst>
              <a:gd name="adj" fmla="val 10000"/>
            </a:avLst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20" y="2487168"/>
            <a:ext cx="822960" cy="1005840"/>
          </a:xfrm>
          <a:prstGeom prst="round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4023360"/>
            <a:ext cx="2194560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4023360"/>
            <a:ext cx="1755648" cy="2743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42976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Geopolitica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572000"/>
            <a:ext cx="2194560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4572000"/>
            <a:ext cx="1207008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48463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Data science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5120640"/>
            <a:ext cx="2194560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5120640"/>
            <a:ext cx="1426464" cy="27432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53949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AI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Guerra cognitiva: precisione cinese vs. saturazione russa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La guerra cognitiva è già operativa — richiedono risposte diverse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2862072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Dominio cognitivo PLA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1298448"/>
            <a:ext cx="3456432" cy="384048"/>
          </a:xfrm>
          <a:prstGeom prst="roundRect">
            <a:avLst>
              <a:gd name="adj" fmla="val 10000"/>
            </a:avLst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Colonizzazione della mente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1792224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DoppelGänger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5416" y="1801368"/>
            <a:ext cx="2386584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Counter-narrative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Cina: dottrina PLA — paralizzare la decisione avversariale prima del conflitto fisico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Xinhua Institute: operazione cognitiva attiva in 163 Paesi (Sud globale)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Russia: saturazione — volume massimo, credibilità minima, spazio informativo inutilizzabile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Risposta: attribuzione rapida vs. Cina · resilienza cognitiva vs. Russia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PLA CMC 2020–25 · Xinhua Institute 2025 · ICDS/Klyszcz 2026 · RUSI 2025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2468880"/>
            <a:ext cx="1645920" cy="1645920"/>
          </a:xfrm>
          <a:prstGeom prst="ellipse">
            <a:avLst/>
          </a:prstGeom>
          <a:solidFill>
            <a:srgbClr val="162D44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80960" y="2743200"/>
            <a:ext cx="1097280" cy="1097280"/>
          </a:xfrm>
          <a:prstGeom prst="ellipse">
            <a:avLst/>
          </a:prstGeom>
          <a:solidFill>
            <a:srgbClr val="162D44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79" y="3017520"/>
            <a:ext cx="548640" cy="548640"/>
          </a:xfrm>
          <a:prstGeom prst="ellipse">
            <a:avLst/>
          </a:prstGeom>
          <a:solidFill>
            <a:srgbClr val="162D44"/>
          </a:solidFill>
          <a:ln w="254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56448" y="3218688"/>
            <a:ext cx="146304" cy="146304"/>
          </a:xfrm>
          <a:prstGeom prst="ellipse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4251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3B3B"/>
                </a:solidFill>
              </a:rPr>
              <a:t>Cina: precisione</a:t>
            </a:r>
          </a:p>
        </p:txBody>
      </p:sp>
      <p:sp>
        <p:nvSpPr>
          <p:cNvPr id="22" name="Oval 21"/>
          <p:cNvSpPr/>
          <p:nvPr/>
        </p:nvSpPr>
        <p:spPr>
          <a:xfrm>
            <a:off x="9875519" y="3017520"/>
            <a:ext cx="548640" cy="548640"/>
          </a:xfrm>
          <a:prstGeom prst="ellipse">
            <a:avLst/>
          </a:prstGeom>
          <a:solidFill>
            <a:srgbClr val="162D44"/>
          </a:solidFill>
          <a:ln w="127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2697480"/>
            <a:ext cx="1188720" cy="1188720"/>
          </a:xfrm>
          <a:prstGeom prst="ellipse">
            <a:avLst/>
          </a:prstGeom>
          <a:solidFill>
            <a:srgbClr val="162D44"/>
          </a:solidFill>
          <a:ln w="127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0" y="2377440"/>
            <a:ext cx="1828800" cy="1828800"/>
          </a:xfrm>
          <a:prstGeom prst="ellipse">
            <a:avLst/>
          </a:prstGeom>
          <a:solidFill>
            <a:srgbClr val="162D44"/>
          </a:solidFill>
          <a:ln w="127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15400" y="2057400"/>
            <a:ext cx="2468880" cy="2468880"/>
          </a:xfrm>
          <a:prstGeom prst="ellipse">
            <a:avLst/>
          </a:prstGeom>
          <a:solidFill>
            <a:srgbClr val="162D44"/>
          </a:solidFill>
          <a:ln w="127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19" y="4617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5DE5"/>
                </a:solidFill>
              </a:rPr>
              <a:t>Russia: saturazione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Cooperazione internazionale: Five Eyes+ e il fronte avversariale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Asimmetrie tecnologiche intra-alleate e convergenza Russia–Cina nei forum normativi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1554480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Five Eyes+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47672" y="1298448"/>
            <a:ext cx="3575304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Track II Tsinghua-Brookings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3099816" cy="384048"/>
          </a:xfrm>
          <a:prstGeom prst="roundRect">
            <a:avLst>
              <a:gd name="adj" fmla="val 10000"/>
            </a:avLst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Poliarchia morbida RIAC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2304288"/>
            <a:ext cx="3456432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Norm entrepreneurship Cina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ECFR: disimpegno USA → standard di attribuzione europei autonomi urgenti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Five Eyes+ (JPN, KOR, AUS) necessario per bilanciare l'AI militare cinese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Cina: formare le norme prima che si cristallizzino — finestra 2024–2027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 + Cina: strategie diverse ma complementari — monitorare come processo coordinato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ECFR 2026 · Tsinghua CISS 2024 · RIAC/Martirosyan 2025 · IISS 2025</a:t>
            </a:r>
          </a:p>
        </p:txBody>
      </p:sp>
      <p:sp>
        <p:nvSpPr>
          <p:cNvPr id="17" name="Oval 16"/>
          <p:cNvSpPr/>
          <p:nvPr/>
        </p:nvSpPr>
        <p:spPr>
          <a:xfrm>
            <a:off x="8119872" y="2176272"/>
            <a:ext cx="768096" cy="7680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4048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USA</a:t>
            </a:r>
          </a:p>
        </p:txBody>
      </p:sp>
      <p:sp>
        <p:nvSpPr>
          <p:cNvPr id="19" name="Oval 18"/>
          <p:cNvSpPr/>
          <p:nvPr/>
        </p:nvSpPr>
        <p:spPr>
          <a:xfrm>
            <a:off x="9308592" y="2724912"/>
            <a:ext cx="768096" cy="7680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29535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UK</a:t>
            </a:r>
          </a:p>
        </p:txBody>
      </p:sp>
      <p:sp>
        <p:nvSpPr>
          <p:cNvPr id="21" name="Oval 20"/>
          <p:cNvSpPr/>
          <p:nvPr/>
        </p:nvSpPr>
        <p:spPr>
          <a:xfrm>
            <a:off x="8942832" y="4005072"/>
            <a:ext cx="768096" cy="7680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59" y="4233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AUS</a:t>
            </a:r>
          </a:p>
        </p:txBody>
      </p:sp>
      <p:sp>
        <p:nvSpPr>
          <p:cNvPr id="23" name="Oval 22"/>
          <p:cNvSpPr/>
          <p:nvPr/>
        </p:nvSpPr>
        <p:spPr>
          <a:xfrm>
            <a:off x="7296912" y="4005072"/>
            <a:ext cx="768096" cy="7680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42336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CAN</a:t>
            </a:r>
          </a:p>
        </p:txBody>
      </p:sp>
      <p:sp>
        <p:nvSpPr>
          <p:cNvPr id="25" name="Oval 24"/>
          <p:cNvSpPr/>
          <p:nvPr/>
        </p:nvSpPr>
        <p:spPr>
          <a:xfrm>
            <a:off x="6839712" y="2724912"/>
            <a:ext cx="768096" cy="7680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9535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NZL</a:t>
            </a:r>
          </a:p>
        </p:txBody>
      </p:sp>
      <p:sp>
        <p:nvSpPr>
          <p:cNvPr id="27" name="Oval 26"/>
          <p:cNvSpPr/>
          <p:nvPr/>
        </p:nvSpPr>
        <p:spPr>
          <a:xfrm>
            <a:off x="8183880" y="1508760"/>
            <a:ext cx="640080" cy="640080"/>
          </a:xfrm>
          <a:prstGeom prst="ellipse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17007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JPN</a:t>
            </a:r>
          </a:p>
        </p:txBody>
      </p:sp>
      <p:sp>
        <p:nvSpPr>
          <p:cNvPr id="29" name="Oval 28"/>
          <p:cNvSpPr/>
          <p:nvPr/>
        </p:nvSpPr>
        <p:spPr>
          <a:xfrm>
            <a:off x="10012680" y="2331720"/>
            <a:ext cx="640080" cy="640080"/>
          </a:xfrm>
          <a:prstGeom prst="ellipse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5237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C67E"/>
                </a:solidFill>
              </a:rPr>
              <a:t>Five Eyes+ (in costruzione)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82295"/>
            <a:ext cx="603504" cy="60350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Governance: tre modelli, nessuna supervisione adeguata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1078992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AI Act senza applicazioni militari · CAC 2.0 senza indipendenza · Russia senza standard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98448"/>
            <a:ext cx="2980944" cy="384048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Act: vuoto militare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1298448"/>
            <a:ext cx="2029968" cy="384048"/>
          </a:xfrm>
          <a:prstGeom prst="roundRect">
            <a:avLst>
              <a:gd name="adj" fmla="val 10000"/>
            </a:avLst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CAC 2.0 (Cina)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801368"/>
            <a:ext cx="2624328" cy="384048"/>
          </a:xfrm>
          <a:prstGeom prst="roundRect">
            <a:avLst>
              <a:gd name="adj" fmla="val 10000"/>
            </a:avLst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sovrana (Russia)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801368"/>
            <a:ext cx="3813048" cy="38404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Auditing tecnico indipendente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6492240" cy="35204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UE: democrazia frammentata — supervisione parlamentare inadeguata per sistemi algoritmici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Cina: 30+ misure operative (CAC 2.0) ma accountability verticale verso il Partito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Russia: walled garden AI — massimo controllo narrativo, minime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·  Il modello adottato dal Sud globale entro il 2030 → architettura globale 2035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093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Fonti: EPRS 2025 · CAC/TC260 2025 · ICDS/Klyszcz 2026 · Kremlin/Putin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828800"/>
            <a:ext cx="1005840" cy="2560320"/>
          </a:xfrm>
          <a:prstGeom prst="roundRect">
            <a:avLst>
              <a:gd name="adj" fmla="val 10000"/>
            </a:avLst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0840" y="1828800"/>
            <a:ext cx="1005840" cy="2560320"/>
          </a:xfrm>
          <a:prstGeom prst="roundRect">
            <a:avLst/>
          </a:prstGeom>
          <a:noFill/>
          <a:ln w="38100">
            <a:solidFill>
              <a:srgbClr val="2D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DC67E"/>
                </a:solidFill>
              </a:rPr>
              <a:t>UE
</a:t>
            </a:r>
            <a:r>
              <a:rPr sz="1100" b="1">
                <a:solidFill>
                  <a:srgbClr val="2DC67E"/>
                </a:solidFill>
              </a:rPr>
              <a:t>Democratico
</a:t>
            </a:r>
            <a:r>
              <a:rPr sz="1100" b="1">
                <a:solidFill>
                  <a:srgbClr val="2DC67E"/>
                </a:solidFill>
              </a:rPr>
              <a:t>frammentato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28800"/>
            <a:ext cx="1005840" cy="2560320"/>
          </a:xfrm>
          <a:prstGeom prst="roundRect">
            <a:avLst>
              <a:gd name="adj" fmla="val 10000"/>
            </a:avLst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1005840" cy="2560320"/>
          </a:xfrm>
          <a:prstGeom prst="roundRect">
            <a:avLst/>
          </a:prstGeom>
          <a:noFill/>
          <a:ln w="38100"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63B3B"/>
                </a:solidFill>
              </a:rPr>
              <a:t>Cina
</a:t>
            </a:r>
            <a:r>
              <a:rPr sz="1100" b="1">
                <a:solidFill>
                  <a:srgbClr val="E63B3B"/>
                </a:solidFill>
              </a:rPr>
              <a:t>Autoritario
</a:t>
            </a:r>
            <a:r>
              <a:rPr sz="1100" b="1">
                <a:solidFill>
                  <a:srgbClr val="E63B3B"/>
                </a:solidFill>
              </a:rPr>
              <a:t>con standard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59" y="1828800"/>
            <a:ext cx="1005840" cy="2560320"/>
          </a:xfrm>
          <a:prstGeom prst="roundRect">
            <a:avLst>
              <a:gd name="adj" fmla="val 10000"/>
            </a:avLst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38359" y="1828800"/>
            <a:ext cx="1005840" cy="2560320"/>
          </a:xfrm>
          <a:prstGeom prst="roundRect">
            <a:avLst/>
          </a:prstGeom>
          <a:noFill/>
          <a:ln w="381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B5DE5"/>
                </a:solidFill>
              </a:rPr>
              <a:t>Russia
</a:t>
            </a:r>
            <a:r>
              <a:rPr sz="1100" b="1">
                <a:solidFill>
                  <a:srgbClr val="9B5DE5"/>
                </a:solidFill>
              </a:rPr>
              <a:t>Autoritario
</a:t>
            </a:r>
            <a:r>
              <a:rPr sz="1100" b="1">
                <a:solidFill>
                  <a:srgbClr val="9B5DE5"/>
                </a:solidFill>
              </a:rPr>
              <a:t>senza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</a:rPr>
              <a:t>Chi adotterà quale modello entro il 2030?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46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0C4DE"/>
                </a:solidFill>
              </a:rPr>
              <a:t>Il futuro dei servizi di intelligence  ·  2025–2035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